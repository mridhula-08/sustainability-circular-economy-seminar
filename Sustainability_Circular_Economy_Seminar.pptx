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b="1">
          <a:solidFill>
            <a:srgbClr val="1F4E79"/>
          </a:solidFill>
          <a:latin typeface="Calibri"/>
        </a:defRPr>
      </a:lvl1pPr>
    </p:titleStyle>
    <p:bodyStyle>
      <a:lvl1pPr>
        <a:defRPr sz="1800">
          <a:solidFill>
            <a:srgbClr val="333333"/>
          </a:solidFill>
          <a:latin typeface="Calibri"/>
        </a:defRPr>
      </a:lvl1pPr>
    </p:bodyStyle>
    <p:otherStyle>
      <a:lvl1pPr>
        <a:defRPr sz="1800">
          <a:solidFill>
            <a:srgbClr val="333333"/>
          </a:solidFill>
          <a:latin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Sustainability, Circular Economy &amp; Green Technologies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57200" y="1825625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i="1">
                <a:solidFill>
                  <a:srgbClr val="666666"/>
                </a:solidFill>
                <a:latin typeface="Calibri"/>
              </a:rPr>
              <a:t>UNIT IV Seminar Presentation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Sustainable Development | GDP | SDGs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Circular Economy | LCA | Green Buildings | Green Materials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Sustainable Transport | Environmental Management in Industry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Sustainable Development &amp; GDP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GDP only measures economic output - ignores pollution &amp; resource depletion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Sustainable Development (Brundtland, 1987):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"Meeting needs of the present without compromising future generations"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Three Pillars: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Economic Growth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Social Inclusion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Environmental Protection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UN Sustainable Development Goals (SDGs)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57200" y="1825625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i="1">
                <a:solidFill>
                  <a:srgbClr val="666666"/>
                </a:solidFill>
                <a:latin typeface="Calibri"/>
              </a:rPr>
              <a:t>17 Goals Adopted in 2015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SDG 7: Affordable &amp; Clean Energy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SDG 9: Industry, Innovation &amp; Infrastructure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SDG 11: Sustainable Cities &amp; Communities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SDG 12: Responsible Consumption &amp; Production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SDG 13: Climate Action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Goal: Balance economy, society &amp; environment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Circular Economy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57200" y="1825625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i="1">
                <a:solidFill>
                  <a:srgbClr val="666666"/>
                </a:solidFill>
                <a:latin typeface="Calibri"/>
              </a:rPr>
              <a:t>vs Linear Economy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Linear: Take -&gt; Make -&gt; Dispose (91% materials become waste)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Circular: Reduce -&gt; Reuse -&gt; Recycle -&gt; Regenerate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Key Principle: Design out waste, keep materials in use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Example: One factory's waste = another's raw material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Lifecycle Assessment (LCA)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57200" y="1825625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i="1">
                <a:solidFill>
                  <a:srgbClr val="666666"/>
                </a:solidFill>
                <a:latin typeface="Calibri"/>
              </a:rPr>
              <a:t>Cradle to Grave Analysis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Measures environmental impact across all stages: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1. Raw Material Extraction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2. Manufacturing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3. Transport &amp; Distribution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4. Use Phase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5. Disposal / End-of-Life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Provides data-driven decisions for green choices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Green Buildings &amp; Green Materials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Buildings: 40% of global energy, 30% of GHG emissions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Green Building Features: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Solar panels, rainwater harvesting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Natural lighting &amp; ventilation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Green roofs, efficient insulation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Certifications: LEED | BREEAM | GRIHA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Green Materials: Bamboo, recycled steel, fly ash bricks, hempcrete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Key: Low embodied carbon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Sustainable Transport Systems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57200" y="1825625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i="1">
                <a:solidFill>
                  <a:srgbClr val="666666"/>
                </a:solidFill>
                <a:latin typeface="Calibri"/>
              </a:rPr>
              <a:t>Transport = 24% of global CO2 emissions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Solutions: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Electric vehicles (powered by renewables)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Electric buses &amp; metros (Shenzhen: 100% electric bus fleet)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Cycling infrastructure (Copenhagen: 62% bike commute)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High-speed rail replacing short-haul flights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Transit-Oriented Development (TOD)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Environmental Management in Industry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ISO 14001 - Environmental Management System (EMS)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Cycle: Plan -&gt; Do -&gt; Check -&gt; Act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Key Practices: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Industrial symbiosis (Kalundborg, Denmark)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Carbon Capture &amp; Storage (CCS)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Zero Liquid Discharge (ZLD)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Extended Producer Responsibility (EPR)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Key Statistic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"If everyone lived like the average American,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we would need 5 Earths.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If everyone lived like the average Indian,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we would need 0.7 Earths."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- Global Footprint Network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F4E79"/>
                </a:solidFill>
                <a:latin typeface="Calibri"/>
              </a:rPr>
              <a:t>Conclusion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2746375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</a:rPr>
              <a:t>Sustainability is not a subject - it's a survival strategy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Circular economy is not recycling - it's redesigning everything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Green technology is not optional - it's the only future that works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The question is not whether we can afford to be sustainable.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</a:rPr>
              <a:t>It's whether we can afford NOT to be.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E79"/>
      </a:dk2>
      <a:lt2>
        <a:srgbClr val="EEECE1"/>
      </a:lt2>
      <a:accent1>
        <a:srgbClr val="1F4E79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